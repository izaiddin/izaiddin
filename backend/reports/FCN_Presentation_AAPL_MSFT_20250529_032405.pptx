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Basket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29, 2025</a:t>
            </a:r>
          </a:p>
          <a:p>
            <a:r>
              <a:t>Basket: AAPL, MSFT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Basket Structure:</a:t>
            </a:r>
          </a:p>
          <a:p>
            <a:r>
              <a:t>    • Basket Type: Worst Of</a:t>
            </a:r>
          </a:p>
          <a:p>
            <a:r>
              <a:t>    • Coupon Rate: 6.0% per annum</a:t>
            </a:r>
          </a:p>
          <a:p>
            <a:r>
              <a:t>    • Face Value: $100,000.00</a:t>
            </a:r>
          </a:p>
          <a:p>
            <a:r>
              <a:t>    • Maturity: 12 months</a:t>
            </a:r>
          </a:p>
          <a:p>
            <a:r>
              <a:t>    • Barrier Levels: 110.0% KO / 70.0% KI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stocks in basket</a:t>
            </a:r>
          </a:p>
          <a:p>
            <a:r>
              <a:t>    • Expected Payoff: $100,774.06</a:t>
            </a:r>
          </a:p>
          <a:p>
            <a:r>
              <a:t>    • Knock-Out Probability: 96.26%</a:t>
            </a:r>
          </a:p>
          <a:p>
            <a:r>
              <a:t>    • Knock-In Probability: 254.19%</a:t>
            </a:r>
          </a:p>
          <a:p>
            <a:r>
              <a:t>    • Most Frequent Worst Performer: AAPL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Composition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Basket Status:</a:t>
            </a:r>
          </a:p>
          <a:p/>
          <a:p>
            <a:r>
              <a:t>• AAPL (NMS)</a:t>
            </a:r>
          </a:p>
          <a:p>
            <a:r>
              <a:t>  Current: $200.42 | Reference: $200.00</a:t>
            </a:r>
          </a:p>
          <a:p>
            <a:r>
              <a:t>  Performance vs Reference: +0.21%</a:t>
            </a:r>
          </a:p>
          <a:p>
            <a:r>
              <a:t>  Status: WORST PERFORMER</a:t>
            </a:r>
          </a:p>
          <a:p/>
          <a:p>
            <a:r>
              <a:t>• MSFT (NMS)</a:t>
            </a:r>
          </a:p>
          <a:p>
            <a:r>
              <a:t>  Current: $457.36 | Reference: $350.00</a:t>
            </a:r>
          </a:p>
          <a:p>
            <a:r>
              <a:t>  Performance vs Reference: +30.67%</a:t>
            </a:r>
          </a:p>
          <a:p>
            <a:r>
              <a:t>  Status: Outperforming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Basket Risk Profile:</a:t>
            </a:r>
          </a:p>
          <a:p/>
          <a:p>
            <a:r>
              <a:t>Basket Metrics:</a:t>
            </a:r>
          </a:p>
          <a:p>
            <a:r>
              <a:t>• Expected Payoff: $100,774.06</a:t>
            </a:r>
          </a:p>
          <a:p>
            <a:r>
              <a:t>• Average Redemption: 2.4 months</a:t>
            </a:r>
          </a:p>
          <a:p>
            <a:r>
              <a:t>• VaR 95%: $100,500.00</a:t>
            </a:r>
          </a:p>
          <a:p>
            <a:r>
              <a:t>• VaR 99%: $79,867.52</a:t>
            </a:r>
          </a:p>
          <a:p/>
          <a:p>
            <a:r>
              <a:t>Individual Stock Risk:</a:t>
            </a:r>
          </a:p>
          <a:p>
            <a:r>
              <a:t>• AAPL:</a:t>
            </a:r>
          </a:p>
          <a:p>
            <a:r>
              <a:t>  Volatility: 33.10%</a:t>
            </a:r>
          </a:p>
          <a:p>
            <a:r>
              <a:t>  Max Drawdown: -33.36%</a:t>
            </a:r>
          </a:p>
          <a:p>
            <a:r>
              <a:t>  Sharpe Ratio: 0.34</a:t>
            </a:r>
          </a:p>
          <a:p/>
          <a:p>
            <a:r>
              <a:t>• MSFT:</a:t>
            </a:r>
          </a:p>
          <a:p>
            <a:r>
              <a:t>  Volatility: 25.79%</a:t>
            </a:r>
          </a:p>
          <a:p>
            <a:r>
              <a:t>  Max Drawdown: -23.73%</a:t>
            </a:r>
          </a:p>
          <a:p>
            <a:r>
              <a:t>  Sharpe Ratio: 0.40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Basket Performance: +0.00%</a:t>
            </a:r>
          </a:p>
          <a:p>
            <a:r>
              <a:t>• Total Payoff: $106,000.00</a:t>
            </a:r>
          </a:p>
          <a:p>
            <a:r>
              <a:t>• Total Return: +6.00%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>
            <a:r>
              <a:t>Bull Case:</a:t>
            </a:r>
          </a:p>
          <a:p>
            <a:r>
              <a:t>• Basket Performance: +15.00%</a:t>
            </a:r>
          </a:p>
          <a:p>
            <a:r>
              <a:t>• Total Payoff: $106,000.00</a:t>
            </a:r>
          </a:p>
          <a:p>
            <a:r>
              <a:t>• Total Return: +6.00%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>
            <a:r>
              <a:t>Bear Case:</a:t>
            </a:r>
          </a:p>
          <a:p>
            <a:r>
              <a:t>• Basket Performance: -20.00%</a:t>
            </a:r>
          </a:p>
          <a:p>
            <a:r>
              <a:t>• Total Payoff: $106,000.00</a:t>
            </a:r>
          </a:p>
          <a:p>
            <a:r>
              <a:t>• Total Return: +6.00%</a:t>
            </a:r>
          </a:p>
          <a:p>
            <a:r>
              <a:t>• Worst Performer: AAPL</a:t>
            </a:r>
          </a:p>
          <a:p>
            <a:r>
              <a:t>• Redemption Type: full term protected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Investment Assessment: HIGH RISK</a:t>
            </a:r>
          </a:p>
          <a:p>
            <a:r>
              <a:t>    </a:t>
            </a:r>
          </a:p>
          <a:p>
            <a:r>
              <a:t>    Key Factors:</a:t>
            </a:r>
          </a:p>
          <a:p>
            <a:r>
              <a:t>    • Expected Return: +0.77%</a:t>
            </a:r>
          </a:p>
          <a:p>
            <a:r>
              <a:t>    • Early Redemption Probability: 96.26%</a:t>
            </a:r>
          </a:p>
          <a:p>
            <a:r>
              <a:t>    • Capital Risk Probability: 254.19%</a:t>
            </a:r>
          </a:p>
          <a:p>
            <a:r>
              <a:t>    • Coupon Enhancement: 6.0% p.a.</a:t>
            </a:r>
          </a:p>
          <a:p>
            <a:r>
              <a:t>    </a:t>
            </a:r>
          </a:p>
          <a:p>
            <a:r>
              <a:t>    Rationale:</a:t>
            </a:r>
          </a:p>
          <a:p>
            <a:r>
              <a:t>    Elevated knock-in probability increases capital risk</a:t>
            </a:r>
          </a:p>
          <a:p>
            <a:r>
              <a:t>    </a:t>
            </a:r>
          </a:p>
          <a:p>
            <a:r>
              <a:t>    Risk Considerations:</a:t>
            </a:r>
          </a:p>
          <a:p>
            <a:r>
              <a:t>    • Performance linked to worst-performing stock</a:t>
            </a:r>
          </a:p>
          <a:p>
            <a:r>
              <a:t>    • Barrier monitoring may trigger early events</a:t>
            </a:r>
          </a:p>
          <a:p>
            <a:r>
              <a:t>    • Monthly coupon provides income enhancement</a:t>
            </a:r>
          </a:p>
          <a:p>
            <a:r>
              <a:t>    • Capital protection contingent on barrier levels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