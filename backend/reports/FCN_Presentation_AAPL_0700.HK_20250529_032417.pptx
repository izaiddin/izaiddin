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FCN Basket Investment Analysis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Analysis Date: May 29, 2025</a:t>
            </a:r>
          </a:p>
          <a:p>
            <a:r>
              <a:t>Basket: AAPL, 0700.HK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Executive Summary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r>
              <a:t>    FCN Basket Structure:</a:t>
            </a:r>
          </a:p>
          <a:p>
            <a:r>
              <a:t>    • Basket Type: Worst Of</a:t>
            </a:r>
          </a:p>
          <a:p>
            <a:r>
              <a:t>    • Coupon Rate: 5.8% per annum</a:t>
            </a:r>
          </a:p>
          <a:p>
            <a:r>
              <a:t>    • Face Value: $500,000.00</a:t>
            </a:r>
          </a:p>
          <a:p>
            <a:r>
              <a:t>    • Maturity: 6 months</a:t>
            </a:r>
          </a:p>
          <a:p>
            <a:r>
              <a:t>    • Barrier Levels: 110.0% KO / 70.0% KI</a:t>
            </a:r>
          </a:p>
          <a:p>
            <a:r>
              <a:t>    </a:t>
            </a:r>
          </a:p>
          <a:p>
            <a:r>
              <a:t>    Key Findings:</a:t>
            </a:r>
          </a:p>
          <a:p>
            <a:r>
              <a:t>    • 2 stocks in basket</a:t>
            </a:r>
          </a:p>
          <a:p>
            <a:r>
              <a:t>    • Expected Payoff: $506,385.26</a:t>
            </a:r>
          </a:p>
          <a:p>
            <a:r>
              <a:t>    • Knock-Out Probability: 57.04%</a:t>
            </a:r>
          </a:p>
          <a:p>
            <a:r>
              <a:t>    • Knock-In Probability: 6.24%</a:t>
            </a:r>
          </a:p>
          <a:p>
            <a:r>
              <a:t>    • Most Frequent Worst Performer: AAPL</a:t>
            </a:r>
          </a:p>
          <a:p>
            <a:r>
              <a:t>    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Basket Composition &amp; Performance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Current Basket Status:</a:t>
            </a:r>
          </a:p>
          <a:p/>
          <a:p>
            <a:r>
              <a:t>• AAPL (NMS)</a:t>
            </a:r>
          </a:p>
          <a:p>
            <a:r>
              <a:t>  Current: $200.42 | Reference: $200.00</a:t>
            </a:r>
          </a:p>
          <a:p>
            <a:r>
              <a:t>  Performance vs Reference: +0.21%</a:t>
            </a:r>
          </a:p>
          <a:p>
            <a:r>
              <a:t>  Status: WORST PERFORMER</a:t>
            </a:r>
          </a:p>
          <a:p/>
          <a:p>
            <a:r>
              <a:t>• 0700.HK (HKG)</a:t>
            </a:r>
          </a:p>
          <a:p>
            <a:r>
              <a:t>  Current: $505.50 | Reference: $500.00</a:t>
            </a:r>
          </a:p>
          <a:p>
            <a:r>
              <a:t>  Performance vs Reference: +1.10%</a:t>
            </a:r>
          </a:p>
          <a:p>
            <a:r>
              <a:t>  Status: Outperforming</a:t>
            </a:r>
          </a:p>
          <a:p/>
          <a:p/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Risk Assessment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Basket Risk Profile:</a:t>
            </a:r>
          </a:p>
          <a:p/>
          <a:p>
            <a:r>
              <a:t>Basket Metrics:</a:t>
            </a:r>
          </a:p>
          <a:p>
            <a:r>
              <a:t>• Expected Payoff: $506,385.26</a:t>
            </a:r>
          </a:p>
          <a:p>
            <a:r>
              <a:t>• Average Redemption: 3.4 months</a:t>
            </a:r>
          </a:p>
          <a:p>
            <a:r>
              <a:t>• VaR 95%: $504,833.33</a:t>
            </a:r>
          </a:p>
          <a:p>
            <a:r>
              <a:t>• VaR 99%: $360,031.79</a:t>
            </a:r>
          </a:p>
          <a:p/>
          <a:p>
            <a:r>
              <a:t>Individual Stock Risk:</a:t>
            </a:r>
          </a:p>
          <a:p>
            <a:r>
              <a:t>• AAPL:</a:t>
            </a:r>
          </a:p>
          <a:p>
            <a:r>
              <a:t>  Volatility: 33.10%</a:t>
            </a:r>
          </a:p>
          <a:p>
            <a:r>
              <a:t>  Max Drawdown: -33.36%</a:t>
            </a:r>
          </a:p>
          <a:p>
            <a:r>
              <a:t>  Sharpe Ratio: 0.34</a:t>
            </a:r>
          </a:p>
          <a:p/>
          <a:p>
            <a:r>
              <a:t>• 0700.HK:</a:t>
            </a:r>
          </a:p>
          <a:p>
            <a:r>
              <a:t>  Volatility: nan%</a:t>
            </a:r>
          </a:p>
          <a:p>
            <a:r>
              <a:t>  Max Drawdown: nan%</a:t>
            </a:r>
          </a:p>
          <a:p>
            <a:r>
              <a:t>  Sharpe Ratio: nan</a:t>
            </a:r>
          </a:p>
          <a:p/>
          <a:p/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Scenario Analysis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Investment Scenarios:</a:t>
            </a:r>
          </a:p>
          <a:p/>
          <a:p>
            <a:r>
              <a:t>Base Case:</a:t>
            </a:r>
          </a:p>
          <a:p>
            <a:r>
              <a:t>• Basket Performance: +0.00%</a:t>
            </a:r>
          </a:p>
          <a:p>
            <a:r>
              <a:t>• Total Payoff: $514,500.00</a:t>
            </a:r>
          </a:p>
          <a:p>
            <a:r>
              <a:t>• Total Return: +2.90%</a:t>
            </a:r>
          </a:p>
          <a:p>
            <a:r>
              <a:t>• Worst Performer: AAPL</a:t>
            </a:r>
          </a:p>
          <a:p>
            <a:r>
              <a:t>• Redemption Type: full term protected</a:t>
            </a:r>
          </a:p>
          <a:p/>
          <a:p>
            <a:r>
              <a:t>Bull Case:</a:t>
            </a:r>
          </a:p>
          <a:p>
            <a:r>
              <a:t>• Basket Performance: +15.00%</a:t>
            </a:r>
          </a:p>
          <a:p>
            <a:r>
              <a:t>• Total Payoff: $514,500.00</a:t>
            </a:r>
          </a:p>
          <a:p>
            <a:r>
              <a:t>• Total Return: +2.90%</a:t>
            </a:r>
          </a:p>
          <a:p>
            <a:r>
              <a:t>• Worst Performer: AAPL</a:t>
            </a:r>
          </a:p>
          <a:p>
            <a:r>
              <a:t>• Redemption Type: full term protected</a:t>
            </a:r>
          </a:p>
          <a:p/>
          <a:p>
            <a:r>
              <a:t>Bear Case:</a:t>
            </a:r>
          </a:p>
          <a:p>
            <a:r>
              <a:t>• Basket Performance: -20.00%</a:t>
            </a:r>
          </a:p>
          <a:p>
            <a:r>
              <a:t>• Total Payoff: $514,500.00</a:t>
            </a:r>
          </a:p>
          <a:p>
            <a:r>
              <a:t>• Total Return: +2.90%</a:t>
            </a:r>
          </a:p>
          <a:p>
            <a:r>
              <a:t>• Worst Performer: AAPL</a:t>
            </a:r>
          </a:p>
          <a:p>
            <a:r>
              <a:t>• Redemption Type: full term protected</a:t>
            </a:r>
          </a:p>
          <a:p/>
          <a:p/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Investment Recommendation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r>
              <a:t>    Investment Assessment: ATTRACTIVE</a:t>
            </a:r>
          </a:p>
          <a:p>
            <a:r>
              <a:t>    </a:t>
            </a:r>
          </a:p>
          <a:p>
            <a:r>
              <a:t>    Key Factors:</a:t>
            </a:r>
          </a:p>
          <a:p>
            <a:r>
              <a:t>    • Expected Return: +1.28%</a:t>
            </a:r>
          </a:p>
          <a:p>
            <a:r>
              <a:t>    • Early Redemption Probability: 57.04%</a:t>
            </a:r>
          </a:p>
          <a:p>
            <a:r>
              <a:t>    • Capital Risk Probability: 6.24%</a:t>
            </a:r>
          </a:p>
          <a:p>
            <a:r>
              <a:t>    • Coupon Enhancement: 5.8% p.a.</a:t>
            </a:r>
          </a:p>
          <a:p>
            <a:r>
              <a:t>    </a:t>
            </a:r>
          </a:p>
          <a:p>
            <a:r>
              <a:t>    Rationale:</a:t>
            </a:r>
          </a:p>
          <a:p>
            <a:r>
              <a:t>    High early redemption probability with low downside risk</a:t>
            </a:r>
          </a:p>
          <a:p>
            <a:r>
              <a:t>    </a:t>
            </a:r>
          </a:p>
          <a:p>
            <a:r>
              <a:t>    Risk Considerations:</a:t>
            </a:r>
          </a:p>
          <a:p>
            <a:r>
              <a:t>    • Performance linked to worst-performing stock</a:t>
            </a:r>
          </a:p>
          <a:p>
            <a:r>
              <a:t>    • Barrier monitoring may trigger early events</a:t>
            </a:r>
          </a:p>
          <a:p>
            <a:r>
              <a:t>    • Monthly coupon provides income enhancement</a:t>
            </a:r>
          </a:p>
          <a:p>
            <a:r>
              <a:t>    • Capital protection contingent on barrier levels</a:t>
            </a:r>
          </a:p>
          <a:p>
            <a:r>
              <a:t>    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