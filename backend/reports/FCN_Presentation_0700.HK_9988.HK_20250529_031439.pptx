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FCN Basket Investment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Date: May 29, 2025</a:t>
            </a:r>
          </a:p>
          <a:p>
            <a:r>
              <a:t>Basket: 0700.HK, 9988.HK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FCN Basket Structure:</a:t>
            </a:r>
          </a:p>
          <a:p>
            <a:r>
              <a:t>    • Basket Type: Worst Of</a:t>
            </a:r>
          </a:p>
          <a:p>
            <a:r>
              <a:t>    • Coupon Rate: 15.0% per annum</a:t>
            </a:r>
          </a:p>
          <a:p>
            <a:r>
              <a:t>    • Face Value: $200,000.00</a:t>
            </a:r>
          </a:p>
          <a:p>
            <a:r>
              <a:t>    • Maturity: 4 months</a:t>
            </a:r>
          </a:p>
          <a:p>
            <a:r>
              <a:t>    • Barrier Levels: 93.0% KO / 72.0% KI</a:t>
            </a:r>
          </a:p>
          <a:p>
            <a:r>
              <a:t>    </a:t>
            </a:r>
          </a:p>
          <a:p>
            <a:r>
              <a:t>    Key Findings:</a:t>
            </a:r>
          </a:p>
          <a:p>
            <a:r>
              <a:t>    • 2 stocks in basket</a:t>
            </a:r>
          </a:p>
          <a:p>
            <a:r>
              <a:t>    • Expected Payoff: $202,500.00</a:t>
            </a:r>
          </a:p>
          <a:p>
            <a:r>
              <a:t>    • Knock-Out Probability: 100.00%</a:t>
            </a:r>
          </a:p>
          <a:p>
            <a:r>
              <a:t>    • Knock-In Probability: 0.00%</a:t>
            </a:r>
          </a:p>
          <a:p>
            <a:r>
              <a:t>    • Most Frequent Worst Performer: N/A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Basket Composition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Basket Status:</a:t>
            </a:r>
          </a:p>
          <a:p/>
          <a:p>
            <a:r>
              <a:t>• 0700.HK (HKG)</a:t>
            </a:r>
          </a:p>
          <a:p>
            <a:r>
              <a:t>  Current: $508.00 | Reference: $517.50</a:t>
            </a:r>
          </a:p>
          <a:p>
            <a:r>
              <a:t>  Performance vs Reference: -1.84%</a:t>
            </a:r>
          </a:p>
          <a:p>
            <a:r>
              <a:t>  Status: Outperforming</a:t>
            </a:r>
          </a:p>
          <a:p/>
          <a:p>
            <a:r>
              <a:t>• 9988.HK (HKG)</a:t>
            </a:r>
          </a:p>
          <a:p>
            <a:r>
              <a:t>  Current: $116.40 | Reference: $128.50</a:t>
            </a:r>
          </a:p>
          <a:p>
            <a:r>
              <a:t>  Performance vs Reference: -9.42%</a:t>
            </a:r>
          </a:p>
          <a:p>
            <a:r>
              <a:t>  Status: WORST PERFORMER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Basket Risk Profile:</a:t>
            </a:r>
          </a:p>
          <a:p/>
          <a:p>
            <a:r>
              <a:t>Basket Metrics:</a:t>
            </a:r>
          </a:p>
          <a:p>
            <a:r>
              <a:t>• Expected Payoff: $202,500.00</a:t>
            </a:r>
          </a:p>
          <a:p>
            <a:r>
              <a:t>• Average Redemption: 1.0 months</a:t>
            </a:r>
          </a:p>
          <a:p>
            <a:r>
              <a:t>• VaR 95%: $202,500.00</a:t>
            </a:r>
          </a:p>
          <a:p>
            <a:r>
              <a:t>• VaR 99%: $202,500.00</a:t>
            </a:r>
          </a:p>
          <a:p/>
          <a:p>
            <a:r>
              <a:t>Individual Stock Risk:</a:t>
            </a:r>
          </a:p>
          <a:p>
            <a:r>
              <a:t>• 0700.HK:</a:t>
            </a:r>
          </a:p>
          <a:p>
            <a:r>
              <a:t>  Volatility: 34.44%</a:t>
            </a:r>
          </a:p>
          <a:p>
            <a:r>
              <a:t>  Max Drawdown: -23.49%</a:t>
            </a:r>
          </a:p>
          <a:p>
            <a:r>
              <a:t>  Sharpe Ratio: 0.93</a:t>
            </a:r>
          </a:p>
          <a:p/>
          <a:p>
            <a:r>
              <a:t>• 9988.HK:</a:t>
            </a:r>
          </a:p>
          <a:p>
            <a:r>
              <a:t>  Volatility: 47.23%</a:t>
            </a:r>
          </a:p>
          <a:p>
            <a:r>
              <a:t>  Max Drawdown: -32.15%</a:t>
            </a:r>
          </a:p>
          <a:p>
            <a:r>
              <a:t>  Sharpe Ratio: 0.90</a:t>
            </a:r>
          </a:p>
          <a:p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Investment Scenarios:</a:t>
            </a:r>
          </a:p>
          <a:p/>
          <a:p>
            <a:r>
              <a:t>Base Case:</a:t>
            </a:r>
          </a:p>
          <a:p>
            <a:r>
              <a:t>• Basket Performance: +0.00%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0700.HK</a:t>
            </a:r>
          </a:p>
          <a:p>
            <a:r>
              <a:t>• Redemption Type: full term protected</a:t>
            </a:r>
          </a:p>
          <a:p/>
          <a:p>
            <a:r>
              <a:t>Bull Case:</a:t>
            </a:r>
          </a:p>
          <a:p>
            <a:r>
              <a:t>• Basket Performance: +15.00%</a:t>
            </a:r>
          </a:p>
          <a:p>
            <a:r>
              <a:t>• Total Payoff: $210,000.00</a:t>
            </a:r>
          </a:p>
          <a:p>
            <a:r>
              <a:t>• Total Return: +5.00%</a:t>
            </a:r>
          </a:p>
          <a:p>
            <a:r>
              <a:t>• Worst Performer: 0700.HK</a:t>
            </a:r>
          </a:p>
          <a:p>
            <a:r>
              <a:t>• Redemption Type: full term protected</a:t>
            </a:r>
          </a:p>
          <a:p/>
          <a:p>
            <a:r>
              <a:t>Bear Case:</a:t>
            </a:r>
          </a:p>
          <a:p>
            <a:r>
              <a:t>• Basket Performance: -30.00%</a:t>
            </a:r>
          </a:p>
          <a:p>
            <a:r>
              <a:t>• Total Payoff: $175,758.94</a:t>
            </a:r>
          </a:p>
          <a:p>
            <a:r>
              <a:t>• Total Return: -12.12%</a:t>
            </a:r>
          </a:p>
          <a:p>
            <a:r>
              <a:t>• Worst Performer: 0700.HK</a:t>
            </a:r>
          </a:p>
          <a:p>
            <a:r>
              <a:t>• Redemption Type: equity exposure</a:t>
            </a:r>
          </a:p>
          <a:p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    Investment Assessment: ATTRACTIVE</a:t>
            </a:r>
          </a:p>
          <a:p>
            <a:r>
              <a:t>    </a:t>
            </a:r>
          </a:p>
          <a:p>
            <a:r>
              <a:t>    Key Factors:</a:t>
            </a:r>
          </a:p>
          <a:p>
            <a:r>
              <a:t>    • Expected Return: +1.25%</a:t>
            </a:r>
          </a:p>
          <a:p>
            <a:r>
              <a:t>    • Early Redemption Probability: 100.00%</a:t>
            </a:r>
          </a:p>
          <a:p>
            <a:r>
              <a:t>    • Capital Risk Probability: 0.00%</a:t>
            </a:r>
          </a:p>
          <a:p>
            <a:r>
              <a:t>    • Coupon Enhancement: 15.0% p.a.</a:t>
            </a:r>
          </a:p>
          <a:p>
            <a:r>
              <a:t>    </a:t>
            </a:r>
          </a:p>
          <a:p>
            <a:r>
              <a:t>    Rationale:</a:t>
            </a:r>
          </a:p>
          <a:p>
            <a:r>
              <a:t>    High early redemption probability with low downside risk</a:t>
            </a:r>
          </a:p>
          <a:p>
            <a:r>
              <a:t>    </a:t>
            </a:r>
          </a:p>
          <a:p>
            <a:r>
              <a:t>    Risk Considerations:</a:t>
            </a:r>
          </a:p>
          <a:p>
            <a:r>
              <a:t>    • Performance linked to worst-performing stock</a:t>
            </a:r>
          </a:p>
          <a:p>
            <a:r>
              <a:t>    • Barrier monitoring may trigger early events</a:t>
            </a:r>
          </a:p>
          <a:p>
            <a:r>
              <a:t>    • Monthly coupon provides income enhancement</a:t>
            </a:r>
          </a:p>
          <a:p>
            <a:r>
              <a:t>    • Capital protection contingent on barrier levels</a:t>
            </a:r>
          </a:p>
          <a:p>
            <a:r>
              <a:t> 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