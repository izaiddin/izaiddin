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28, 2025</a:t>
            </a:r>
          </a:p>
          <a:p>
            <a:r>
              <a:t>Underlying Assets: AAPL, MSFT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Structure:</a:t>
            </a:r>
          </a:p>
          <a:p>
            <a:r>
              <a:t>    • Coupon Rate: 5.5% per annum</a:t>
            </a:r>
          </a:p>
          <a:p>
            <a:r>
              <a:t>    • Face Value: $100,000.00</a:t>
            </a:r>
          </a:p>
          <a:p>
            <a:r>
              <a:t>    • Maturity: 1.0 years</a:t>
            </a:r>
          </a:p>
          <a:p>
            <a:r>
              <a:t>    • Barrier Level: 70.0% of initial price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underlying stocks analyzed</a:t>
            </a:r>
          </a:p>
          <a:p>
            <a:r>
              <a:t>    • Monte Carlo simulation with 10,000 scenarios</a:t>
            </a:r>
          </a:p>
          <a:p>
            <a:r>
              <a:t>    • Comprehensive risk and scenario analysis performed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Underlying Stock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Stock Positions:</a:t>
            </a:r>
          </a:p>
          <a:p/>
          <a:p>
            <a:r>
              <a:t>• AAPL (Apple Inc.)</a:t>
            </a:r>
          </a:p>
          <a:p>
            <a:r>
              <a:t>  Current Price: $200.21</a:t>
            </a:r>
          </a:p>
          <a:p>
            <a:r>
              <a:t>  P/E Ratio: 24.09</a:t>
            </a:r>
          </a:p>
          <a:p/>
          <a:p>
            <a:r>
              <a:t>• MSFT (Microsoft Corporation)</a:t>
            </a:r>
          </a:p>
          <a:p>
            <a:r>
              <a:t>  Current Price: $460.69</a:t>
            </a:r>
          </a:p>
          <a:p>
            <a:r>
              <a:t>  P/E Ratio: 30.82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FCN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Performance Indicators:</a:t>
            </a:r>
          </a:p>
          <a:p/>
          <a:p>
            <a:r>
              <a:t>• AAPL:</a:t>
            </a:r>
          </a:p>
          <a:p>
            <a:r>
              <a:t>  Current Yield: 2747.12%</a:t>
            </a:r>
          </a:p>
          <a:p>
            <a:r>
              <a:t>  Yield to Maturity: 210.18%</a:t>
            </a:r>
          </a:p>
          <a:p>
            <a:r>
              <a:t>  Distance to Barrier: 30.00%</a:t>
            </a:r>
          </a:p>
          <a:p/>
          <a:p>
            <a:r>
              <a:t>• MSFT:</a:t>
            </a:r>
          </a:p>
          <a:p>
            <a:r>
              <a:t>  Current Yield: 1193.86%</a:t>
            </a:r>
          </a:p>
          <a:p>
            <a:r>
              <a:t>  Yield to Maturity: 209.12%</a:t>
            </a:r>
          </a:p>
          <a:p>
            <a:r>
              <a:t>  Distance to Barrier: 30.00%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Assessment Summary:</a:t>
            </a:r>
          </a:p>
          <a:p/>
          <a:p>
            <a:r>
              <a:t>• AAPL:</a:t>
            </a:r>
          </a:p>
          <a:p>
            <a:r>
              <a:t>  Annual Volatility: 33.14%</a:t>
            </a:r>
          </a:p>
          <a:p>
            <a:r>
              <a:t>  Knock-in Probability: 16.80%</a:t>
            </a:r>
          </a:p>
          <a:p>
            <a:r>
              <a:t>  Expected Payoff: $97063.71</a:t>
            </a:r>
          </a:p>
          <a:p/>
          <a:p>
            <a:r>
              <a:t>• MSFT:</a:t>
            </a:r>
          </a:p>
          <a:p>
            <a:r>
              <a:t>  Annual Volatility: 25.79%</a:t>
            </a:r>
          </a:p>
          <a:p>
            <a:r>
              <a:t>  Knock-in Probability: 8.13%</a:t>
            </a:r>
          </a:p>
          <a:p>
            <a:r>
              <a:t>  Expected Payoff: $98741.06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AAPL: $100000.00 (+0.00%)</a:t>
            </a:r>
          </a:p>
          <a:p>
            <a:r>
              <a:t>• MSFT: $100000.00 (+0.00%)</a:t>
            </a:r>
          </a:p>
          <a:p/>
          <a:p>
            <a:r>
              <a:t>Bull Case:</a:t>
            </a:r>
          </a:p>
          <a:p>
            <a:r>
              <a:t>• AAPL: $100000.00 (+0.00%)</a:t>
            </a:r>
          </a:p>
          <a:p>
            <a:r>
              <a:t>• MSFT: $100000.00 (+0.00%)</a:t>
            </a:r>
          </a:p>
          <a:p/>
          <a:p>
            <a:r>
              <a:t>Bear Case:</a:t>
            </a:r>
          </a:p>
          <a:p>
            <a:r>
              <a:t>• AAPL: $100000.00 (+0.00%)</a:t>
            </a:r>
          </a:p>
          <a:p>
            <a:r>
              <a:t>• MSFT: $100000.00 (+0.00%)</a:t>
            </a:r>
          </a:p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