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NVDA, AMZN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Average</a:t>
            </a:r>
          </a:p>
          <a:p>
            <a:r>
              <a:t>    • Coupon Rate: 17.5% per annum</a:t>
            </a:r>
          </a:p>
          <a:p>
            <a:r>
              <a:t>    • Face Value: $1,000,000.00</a:t>
            </a:r>
          </a:p>
          <a:p>
            <a:r>
              <a:t>    • Maturity: 15 months</a:t>
            </a:r>
          </a:p>
          <a:p>
            <a:r>
              <a:t>    • Barrier Levels: 95.0% KO / 82.0%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$1,014,583.33</a:t>
            </a:r>
          </a:p>
          <a:p>
            <a:r>
              <a:t>    • Knock-Out Probability: 100.00%</a:t>
            </a:r>
          </a:p>
          <a:p>
            <a:r>
              <a:t>    • Knock-In Probability: 0.02%</a:t>
            </a:r>
          </a:p>
          <a:p>
            <a:r>
              <a:t>    • Most Frequent Worst Performer: N/A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NVDA (NMS)</a:t>
            </a:r>
          </a:p>
          <a:p>
            <a:r>
              <a:t>  Current: $140.61 | Reference: $135.90</a:t>
            </a:r>
          </a:p>
          <a:p>
            <a:r>
              <a:t>  Performance vs Reference: +3.47%</a:t>
            </a:r>
          </a:p>
          <a:p>
            <a:r>
              <a:t>  Status: Outperforming</a:t>
            </a:r>
          </a:p>
          <a:p/>
          <a:p>
            <a:r>
              <a:t>• AMZN (NMS)</a:t>
            </a:r>
          </a:p>
          <a:p>
            <a:r>
              <a:t>  Current: $206.30 | Reference: $200.71</a:t>
            </a:r>
          </a:p>
          <a:p>
            <a:r>
              <a:t>  Performance vs Reference: +2.79%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$1,014,583.33</a:t>
            </a:r>
          </a:p>
          <a:p>
            <a:r>
              <a:t>• Average Redemption: 1.0 months</a:t>
            </a:r>
          </a:p>
          <a:p>
            <a:r>
              <a:t>• VaR 95%: $1,014,583.33</a:t>
            </a:r>
          </a:p>
          <a:p>
            <a:r>
              <a:t>• VaR 99%: $1,014,583.33</a:t>
            </a:r>
          </a:p>
          <a:p/>
          <a:p>
            <a:r>
              <a:t>Individual Stock Risk:</a:t>
            </a:r>
          </a:p>
          <a:p>
            <a:r>
              <a:t>• NVDA:</a:t>
            </a:r>
          </a:p>
          <a:p>
            <a:r>
              <a:t>  Volatility: 58.95%</a:t>
            </a:r>
          </a:p>
          <a:p>
            <a:r>
              <a:t>  Max Drawdown: -36.88%</a:t>
            </a:r>
          </a:p>
          <a:p>
            <a:r>
              <a:t>  Sharpe Ratio: 0.65</a:t>
            </a:r>
          </a:p>
          <a:p/>
          <a:p>
            <a:r>
              <a:t>• AMZN:</a:t>
            </a:r>
          </a:p>
          <a:p>
            <a:r>
              <a:t>  Volatility: 34.68%</a:t>
            </a:r>
          </a:p>
          <a:p>
            <a:r>
              <a:t>  Max Drawdown: -30.88%</a:t>
            </a:r>
          </a:p>
          <a:p>
            <a:r>
              <a:t>  Sharpe Ratio: 0.53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$1,218,750.00</a:t>
            </a:r>
          </a:p>
          <a:p>
            <a:r>
              <a:t>• Total Return: +21.88%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$1,218,750.00</a:t>
            </a:r>
          </a:p>
          <a:p>
            <a:r>
              <a:t>• Total Return: +21.88%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$1,018,750.00</a:t>
            </a:r>
          </a:p>
          <a:p>
            <a:r>
              <a:t>• Total Return: +1.88%</a:t>
            </a:r>
          </a:p>
          <a:p>
            <a:r>
              <a:t>• Worst Performer: N/A</a:t>
            </a:r>
          </a:p>
          <a:p>
            <a:r>
              <a:t>• Redemption Type: equity exposure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+1.46%</a:t>
            </a:r>
          </a:p>
          <a:p>
            <a:r>
              <a:t>    • Early Redemption Probability: 100.00%</a:t>
            </a:r>
          </a:p>
          <a:p>
            <a:r>
              <a:t>    • Capital Risk Probability: 0.02%</a:t>
            </a:r>
          </a:p>
          <a:p>
            <a:r>
              <a:t>    • Coupon Enhancement: 17.5%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